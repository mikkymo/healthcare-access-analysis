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Total Admissions by Condition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C5B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Arthritis</c:v>
                  </c:pt>
                  <c:pt idx="1">
                    <c:v>Diabetes</c:v>
                  </c:pt>
                  <c:pt idx="2">
                    <c:v>Hypertension</c:v>
                  </c:pt>
                  <c:pt idx="3">
                    <c:v>Obesity</c:v>
                  </c:pt>
                  <c:pt idx="4">
                    <c:v>Cancer</c:v>
                  </c:pt>
                  <c:pt idx="5">
                    <c:v>Asthma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9218</c:v>
                </c:pt>
                <c:pt idx="1">
                  <c:v>9216</c:v>
                </c:pt>
                <c:pt idx="2">
                  <c:v>9151</c:v>
                </c:pt>
                <c:pt idx="3">
                  <c:v>9146</c:v>
                </c:pt>
                <c:pt idx="4">
                  <c:v>9140</c:v>
                </c:pt>
                <c:pt idx="5">
                  <c:v>9095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Avg Stay by Condition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Asthma</c:v>
                  </c:pt>
                  <c:pt idx="1">
                    <c:v>Cancer</c:v>
                  </c:pt>
                  <c:pt idx="2">
                    <c:v>Arthritis</c:v>
                  </c:pt>
                  <c:pt idx="3">
                    <c:v>Obesity</c:v>
                  </c:pt>
                  <c:pt idx="4">
                    <c:v>Diabetes</c:v>
                  </c:pt>
                  <c:pt idx="5">
                    <c:v>Hypertension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15.7</c:v>
                </c:pt>
                <c:pt idx="1">
                  <c:v>15.5</c:v>
                </c:pt>
                <c:pt idx="2">
                  <c:v>15.5</c:v>
                </c:pt>
                <c:pt idx="3">
                  <c:v>15.4</c:v>
                </c:pt>
                <c:pt idx="4">
                  <c:v>15.4</c:v>
                </c:pt>
                <c:pt idx="5">
                  <c:v>15.4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15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Avg Stay by Age Group (days)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&lt;18</c:v>
                  </c:pt>
                  <c:pt idx="1">
                    <c:v>18-35</c:v>
                  </c:pt>
                  <c:pt idx="2">
                    <c:v>35-50</c:v>
                  </c:pt>
                  <c:pt idx="3">
                    <c:v>50-65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15.5</c:v>
                </c:pt>
                <c:pt idx="1">
                  <c:v>15.4</c:v>
                </c:pt>
                <c:pt idx="2">
                  <c:v>15.4</c:v>
                </c:pt>
                <c:pt idx="3">
                  <c:v>15.6</c:v>
                </c:pt>
                <c:pt idx="4">
                  <c:v>15.6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1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Avg Billing by Condition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Billing ($)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Cancer</c:v>
                  </c:pt>
                  <c:pt idx="1">
                    <c:v>Arthritis</c:v>
                  </c:pt>
                  <c:pt idx="2">
                    <c:v>Hypertension</c:v>
                  </c:pt>
                  <c:pt idx="3">
                    <c:v>Asthma</c:v>
                  </c:pt>
                  <c:pt idx="4">
                    <c:v>Diabetes</c:v>
                  </c:pt>
                  <c:pt idx="5">
                    <c:v>Obesity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25155</c:v>
                </c:pt>
                <c:pt idx="1">
                  <c:v>25513</c:v>
                </c:pt>
                <c:pt idx="2">
                  <c:v>25505</c:v>
                </c:pt>
                <c:pt idx="3">
                  <c:v>25636</c:v>
                </c:pt>
                <c:pt idx="4">
                  <c:v>25662</c:v>
                </c:pt>
                <c:pt idx="5">
                  <c:v>25807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0"/>
          <c:min val="2480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Billing by Insurer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Billing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bubble3D val="0"/>
            <c:spPr>
              <a:solidFill>
                <a:srgbClr val="02809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UnitedHealthcare</c:v>
                </c:pt>
                <c:pt idx="1">
                  <c:v>Cigna</c:v>
                </c:pt>
                <c:pt idx="2">
                  <c:v>Aetna</c:v>
                </c:pt>
                <c:pt idx="3">
                  <c:v>Blue Cross</c:v>
                </c:pt>
                <c:pt idx="4">
                  <c:v>Medicare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25415</c:v>
                </c:pt>
                <c:pt idx="1">
                  <c:v>25528</c:v>
                </c:pt>
                <c:pt idx="2">
                  <c:v>25553</c:v>
                </c:pt>
                <c:pt idx="3">
                  <c:v>25605</c:v>
                </c:pt>
                <c:pt idx="4">
                  <c:v>25630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Test Result % by Medication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Abnormal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Aspirin</c:v>
                  </c:pt>
                  <c:pt idx="1">
                    <c:v>Ibuprofen</c:v>
                  </c:pt>
                  <c:pt idx="2">
                    <c:v>Lipitor</c:v>
                  </c:pt>
                  <c:pt idx="3">
                    <c:v>Paracetamol</c:v>
                  </c:pt>
                  <c:pt idx="4">
                    <c:v>Penicillin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33.7</c:v>
                </c:pt>
                <c:pt idx="1">
                  <c:v>33.7</c:v>
                </c:pt>
                <c:pt idx="2">
                  <c:v>33.2</c:v>
                </c:pt>
                <c:pt idx="3">
                  <c:v>33.7</c:v>
                </c:pt>
                <c:pt idx="4">
                  <c:v>33.4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Inconclusive</c:v>
                </c:pt>
              </c:strCache>
            </c:strRef>
          </c:tx>
          <c:spPr>
            <a:solidFill>
              <a:srgbClr val="F9E7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Aspirin</c:v>
                  </c:pt>
                  <c:pt idx="1">
                    <c:v>Ibuprofen</c:v>
                  </c:pt>
                  <c:pt idx="2">
                    <c:v>Lipitor</c:v>
                  </c:pt>
                  <c:pt idx="3">
                    <c:v>Paracetamol</c:v>
                  </c:pt>
                  <c:pt idx="4">
                    <c:v>Penicillin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32.7</c:v>
                </c:pt>
                <c:pt idx="1">
                  <c:v>32.8</c:v>
                </c:pt>
                <c:pt idx="2">
                  <c:v>33.7</c:v>
                </c:pt>
                <c:pt idx="3">
                  <c:v>33.3</c:v>
                </c:pt>
                <c:pt idx="4">
                  <c:v>33.1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Aspirin</c:v>
                  </c:pt>
                  <c:pt idx="1">
                    <c:v>Ibuprofen</c:v>
                  </c:pt>
                  <c:pt idx="2">
                    <c:v>Lipitor</c:v>
                  </c:pt>
                  <c:pt idx="3">
                    <c:v>Paracetamol</c:v>
                  </c:pt>
                  <c:pt idx="4">
                    <c:v>Penicillin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33.6</c:v>
                </c:pt>
                <c:pt idx="1">
                  <c:v>33.6</c:v>
                </c:pt>
                <c:pt idx="2">
                  <c:v>33</c:v>
                </c:pt>
                <c:pt idx="3">
                  <c:v>33.1</c:v>
                </c:pt>
                <c:pt idx="4">
                  <c:v>33.4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 Python Data Analysis — Capstone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3375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</a:t>
            </a:r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 Chukwuemeka Okereke
</a:t>
            </a:r>
            <a:pPr indent="0" marL="0">
              <a:buNone/>
            </a:pPr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Dataset (Kaggle — Prasad Patil)
</a:t>
            </a:r>
            <a:pPr indent="0" marL="0">
              <a:buNone/>
            </a:pPr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 patients | 15 variables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64592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🏥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 patient records — what we have and how we cleaned 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Patterns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conditions drive the most hospital visits and why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determine how long patients stay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Insurance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distribution across conditions and providers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&amp; Outcomes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treatment and test results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82880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288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patient outcomes from admission data?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5029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517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for hospital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Prasad Patil Healthcare Dataset (2019–2024)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8288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16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6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43000"/>
            <a:ext cx="18288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216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31720" y="1696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1828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216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97680" y="1696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 Fixed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18288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216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1696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18288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9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54,966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2839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286000"/>
            <a:ext cx="1828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359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331720" y="2839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Retained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286000"/>
            <a:ext cx="18288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359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297680" y="2839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286000"/>
            <a:ext cx="18288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3591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63640" y="2839212"/>
            <a:ext cx="182880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93008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Variables: Age  |  Gender  |  Blood Type  |  Medical Condition  |  Admission 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  |  Insurance Provider  |  Medication  |  Test Results  |  Length of Stay (engineered)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Admission Patterns by Medical Condition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91840" cy="34747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41732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 leads with 9,218 admissions — but all 6 conditions differ by only 123 patients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burden across ALL conditions — balanced resource demand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records the highest Urgent admissions at 3,197 — suggesting more acute episodes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Elective &amp; Urgent splits are ~33% each across every condition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Hospital resources must be allocated equally across all conditions — no single disease dominates.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Factors Influencing Length of Hospital Stay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041648"/>
            <a:ext cx="8046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duration is remarkably consistent (~15.5 days) regardless of condition. Older patients (50+) stay 0.2 days longer on average. Emergency admissions average 15.6 days vs 15.4 for Urgent — focus resources on elderly emergency arrivals.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Billing Amount Across Conditions &amp; Insurance Providers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914400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520440"/>
            <a:ext cx="265176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547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$25,807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65760" y="4005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Billing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91840" y="3520440"/>
            <a:ext cx="265176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0" y="3547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$25,662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291840" y="4005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 Billing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3520440"/>
            <a:ext cx="26517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35478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$215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17920" y="4005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Insurers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Target Obesity &amp; Diabetes with preventive care programmes to reduce long-term billing burden.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Medication &amp; Test Result Outcomes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91840" cy="310896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005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389888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medication shows a ~33/33/33 split — no drug significantly outperforms others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 has the highest Abnormal rate at 34.2%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shows the best Normal rate at 34.3%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&amp; Asthma respond best to current protocols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Clinical audit of Arthritis treatment protocols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1330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Uniform outcome distribution across medications suggests treatment selection is not a significant predictor of test results.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— Predicting Patient Test Results with Machine Learning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0312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43,972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21031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9875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10,994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21031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875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41.69%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960120"/>
            <a:ext cx="21031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9875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&gt;33.3%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237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457200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960120"/>
                <a:gridCol w="960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212080" y="2103120"/>
            <a:ext cx="3657600" cy="19202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21762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41.69% is a Valid Result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49240" y="254203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problem: random chance = 33.3%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beats random by +8.4 percentage points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precision/recall — no class bias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test results split ~33/33/33 across all conditions — demographic data lacks clinical depth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4133088"/>
            <a:ext cx="841248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1879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Invest in richer clinical data collection (vitals, lab values, symptom scores) to improve predictive capability for patient triage.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actions for hospital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0292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18872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52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Resource Allocation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910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flexible, multi-condition capacity — all 6 conditions impose near-equal demand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237744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41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Elderly Emergency Patients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797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fast-track pathways for patients 50+ arriving via emergency — highest combined resource demand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50292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6616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" y="356616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301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Chronic Disease Prevention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684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preventive care for Obesity &amp; Diabetes — the two highest-billing conditions at $25,807 and $25,662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502920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887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57800" y="118872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252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Arthritis Protocols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5910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 has the highest Abnormal test rate (34.2%) — a clinical review of treatment and diagnostic protocols is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50292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774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257800" y="237744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441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Clinical Data Collection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7797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vitals, lab values &amp; symptom scores to enable reliable ML-based patient triage in the future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 are distributed equally across all 6 conditions — balanced planning is essential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37944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37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3794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averages 15.5 days — elderly emergency patients need the most attention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53288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5328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and Diabetes are the costliest conditions — preventive care investment offers the best ROI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227832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27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22783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medication shows superior outcomes — clinical trials and protocol reviews are recommended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92277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92277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confirms demographic data is insufficient alone — richer clinical data collection is the next step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4617720"/>
            <a:ext cx="83210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7274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 Chukwuemeka Okereke  |  TDI Python Data Analysis Capstone  |  Dataset: Kaggle — Prasad Patil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Access &amp; Systems Analysis</dc:title>
  <dc:subject>PptxGenJS Presentation</dc:subject>
  <dc:creator>Ogo Chukwuemeka Okereke</dc:creator>
  <cp:lastModifiedBy>Ogo Chukwuemeka Okereke</cp:lastModifiedBy>
  <cp:revision>1</cp:revision>
  <dcterms:created xsi:type="dcterms:W3CDTF">2026-05-29T05:32:21Z</dcterms:created>
  <dcterms:modified xsi:type="dcterms:W3CDTF">2026-05-29T05:32:21Z</dcterms:modified>
</cp:coreProperties>
</file>